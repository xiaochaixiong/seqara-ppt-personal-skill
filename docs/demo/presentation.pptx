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charts/seqara-data-1.xml" ContentType="application/vnd.openxmlformats-officedocument.drawingml.chart+xml"/>
  <Override PartName="/ppt/embeddings/seqara-data-1.xlsx" ContentType="application/vnd.openxmlformats-officedocument.spreadsheetml.sheet"/>
  <Override PartName="/ppt/notesSlides/personal-notes-1.xml" ContentType="application/vnd.openxmlformats-officedocument.presentationml.notesSlide+xml"/>
  <Override PartName="/ppt/slides/personal-slide-1.xml" ContentType="application/vnd.openxmlformats-officedocument.presentationml.slide+xml"/>
  <Override PartName="/ppt/charts/seqara-data-2.xml" ContentType="application/vnd.openxmlformats-officedocument.drawingml.chart+xml"/>
  <Override PartName="/ppt/embeddings/seqara-data-2.xlsx" ContentType="application/vnd.openxmlformats-officedocument.spreadsheetml.sheet"/>
  <Override PartName="/ppt/notesSlides/personal-notes-2.xml" ContentType="application/vnd.openxmlformats-officedocument.presentationml.notesSlide+xml"/>
  <Override PartName="/ppt/slides/personal-slide-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PersonalSlide1"/>
    <p:sldId id="257" r:id="rIdPersonalSlide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862D"/>
    <a:srgbClr val="9FA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PersonalSlide1" Type="http://schemas.openxmlformats.org/officeDocument/2006/relationships/slide" Target="slides/personal-slide-1.xml"/><Relationship Id="rIdPersonalSlide2" Type="http://schemas.openxmlformats.org/officeDocument/2006/relationships/slide" Target="slides/personal-slide-2.xml"/></Relationships>
</file>

<file path=ppt/charts/_rels/seqara-data-1.xml.rels><?xml version='1.0' encoding='UTF-8' standalone='yes'?>
<Relationships xmlns="http://schemas.openxmlformats.org/package/2006/relationships"><Relationship Id="rIdDataWorkbook" Type="http://schemas.openxmlformats.org/officeDocument/2006/relationships/package" Target="../embeddings/seqara-data-1.xlsx"/></Relationships>
</file>

<file path=ppt/charts/_rels/seqara-data-2.xml.rels><?xml version='1.0' encoding='UTF-8' standalone='yes'?>
<Relationships xmlns="http://schemas.openxmlformats.org/package/2006/relationships"><Relationship Id="rIdDataWorkbook" Type="http://schemas.openxmlformats.org/officeDocument/2006/relationships/package" Target="../embeddings/seqara-data-2.xlsx"/></Relationships>
</file>

<file path=ppt/charts/seqara-data-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183158"/>
            </a:solidFill>
            <a:ln w="28575">
              <a:solidFill>
                <a:srgbClr val="183158"/>
              </a:solidFill>
            </a:ln>
          </c:spPr>
          <c:marker>
            <c:symbol val="circle"/>
            <c:size val="7"/>
            <c:spPr>
              <a:solidFill>
                <a:srgbClr val="18315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'Data'!$A$2:$A$7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'Data'!$B$2:$B$7</c:f>
              <c:numCache>
                <c:formatCode>General</c:formatCode>
                <c:ptCount val="6"/>
                <c:pt idx="0">
                  <c:v>12.0</c:v>
                </c:pt>
                <c:pt idx="1">
                  <c:v>18.0</c:v>
                </c:pt>
                <c:pt idx="2">
                  <c:v>24.0</c:v>
                </c:pt>
                <c:pt idx="3">
                  <c:v>26.0</c:v>
                </c:pt>
                <c:pt idx="4">
                  <c:v>21.0</c:v>
                </c:pt>
                <c:pt idx="5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B2BDCC"/>
            </a:solidFill>
          </a:ln>
        </c:spPr>
        <c:txPr>
          <a:bodyPr/>
          <a:lstStyle/>
          <a:p>
            <a:pPr>
              <a:defRPr sz="1000">
                <a:solidFill>
                  <a:srgbClr val="364862"/>
                </a:solidFill>
                <a:latin typeface="MiSans Norm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9E0E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>
                    <a:latin typeface="MiSans Normal"/>
                  </a:defRPr>
                </a:pPr>
                <a:r>
                  <a:t>次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7620">
            <a:solidFill>
              <a:srgbClr val="B2BDCC"/>
            </a:solidFill>
          </a:ln>
        </c:spPr>
        <c:txPr>
          <a:bodyPr/>
          <a:lstStyle/>
          <a:p>
            <a:pPr>
              <a:defRPr sz="1000">
                <a:solidFill>
                  <a:srgbClr val="364862"/>
                </a:solidFill>
                <a:latin typeface="MiSans Norm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183158"/>
          </a:solidFill>
          <a:latin typeface="MiSans Normal"/>
        </a:defRPr>
      </a:pPr>
      <a:endParaRPr lang="en-US"/>
    </a:p>
  </c:txPr>
  <c:externalData r:id="rIdDataWorkbook">
    <c:autoUpdate val="0"/>
  </c:externalData>
</c:chartSpace>
</file>

<file path=ppt/charts/seqara-data-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'Data'!$B$1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183158"/>
            </a:solidFill>
            <a:ln w="28575">
              <a:solidFill>
                <a:srgbClr val="183158"/>
              </a:solidFill>
            </a:ln>
          </c:spPr>
          <c:cat>
            <c:strRef>
              <c:f>'Data'!$A$2:$A$7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'Data'!$B$2:$B$7</c:f>
              <c:numCache>
                <c:formatCode>General</c:formatCode>
                <c:ptCount val="6"/>
                <c:pt idx="0">
                  <c:v>12.0</c:v>
                </c:pt>
                <c:pt idx="1">
                  <c:v>18.0</c:v>
                </c:pt>
                <c:pt idx="2">
                  <c:v>24.0</c:v>
                </c:pt>
                <c:pt idx="3">
                  <c:v>26.0</c:v>
                </c:pt>
                <c:pt idx="4">
                  <c:v>21.0</c:v>
                </c:pt>
                <c:pt idx="5">
                  <c:v>19.0</c:v>
                </c:pt>
              </c:numCache>
            </c:numRef>
          </c:val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ED8123"/>
            </a:solidFill>
            <a:ln w="28575">
              <a:solidFill>
                <a:srgbClr val="ED8123"/>
              </a:solidFill>
            </a:ln>
          </c:spPr>
          <c:cat>
            <c:strRef>
              <c:f>'Data'!$A$2:$A$7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'Data'!$C$2:$C$7</c:f>
              <c:numCache>
                <c:formatCode>General</c:formatCode>
                <c:ptCount val="6"/>
                <c:pt idx="0">
                  <c:v>10.0</c:v>
                </c:pt>
                <c:pt idx="1">
                  <c:v>13.0</c:v>
                </c:pt>
                <c:pt idx="2">
                  <c:v>16.0</c:v>
                </c:pt>
                <c:pt idx="3">
                  <c:v>20.0</c:v>
                </c:pt>
                <c:pt idx="4">
                  <c:v>18.0</c:v>
                </c:pt>
                <c:pt idx="5">
                  <c:v>16.0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B2BDCC"/>
            </a:solidFill>
          </a:ln>
        </c:spPr>
        <c:txPr>
          <a:bodyPr/>
          <a:lstStyle/>
          <a:p>
            <a:pPr>
              <a:defRPr sz="1000">
                <a:solidFill>
                  <a:srgbClr val="364862"/>
                </a:solidFill>
                <a:latin typeface="MiSans Norm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E0E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>
                    <a:latin typeface="MiSans Normal"/>
                  </a:defRPr>
                </a:pPr>
                <a:r>
                  <a:t>次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7620">
            <a:solidFill>
              <a:srgbClr val="B2BDCC"/>
            </a:solidFill>
          </a:ln>
        </c:spPr>
        <c:txPr>
          <a:bodyPr/>
          <a:lstStyle/>
          <a:p>
            <a:pPr>
              <a:defRPr sz="1000">
                <a:solidFill>
                  <a:srgbClr val="364862"/>
                </a:solidFill>
                <a:latin typeface="MiSans Norm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Sans Normal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183158"/>
          </a:solidFill>
          <a:latin typeface="MiSans Normal"/>
        </a:defRPr>
      </a:pPr>
      <a:endParaRPr lang="en-US"/>
    </a:p>
  </c:txPr>
  <c:externalData r:id="rIdDataWorkbook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mplate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3" name="Synthetic template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charset="-122"/>
                <a:ea typeface="MiSans Normal" charset="-122"/>
                <a:cs typeface="MiSans Normal" charset="-122"/>
              </a:rPr>
            </a:fld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4" name="Synthetic template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" name="Synthetic template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charset="-122"/>
                <a:ea typeface="MiSans Normal" charset="-122"/>
                <a:cs typeface="MiSans Normal" charset="-122"/>
              </a:rPr>
            </a:fld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Sans Normal" charset="-122"/>
        <a:ea typeface="MiSans Normal" charset="-122"/>
      </a:defRPr>
    </a:lvl1pPr>
  </p:notesStyle>
</p:notesMaster>
</file>

<file path=ppt/notesSlides/_rels/personal-notes-1.xml.rels><?xml version='1.0' encoding='UTF-8' standalone='yes'?>
<Relationships xmlns="http://schemas.openxmlformats.org/package/2006/relationships"><Relationship Id="rId1" Type="http://schemas.openxmlformats.org/officeDocument/2006/relationships/slide" Target="../slides/personal-slide-1.xml"/><Relationship Id="rId2" Type="http://schemas.openxmlformats.org/officeDocument/2006/relationships/notesMaster" Target="../notesMasters/notesMaster1.xml"/></Relationships>
</file>

<file path=ppt/notesSlides/_rels/personal-notes-2.xml.rels><?xml version='1.0' encoding='UTF-8' standalone='yes'?>
<Relationships xmlns="http://schemas.openxmlformats.org/package/2006/relationships"><Relationship Id="rId1" Type="http://schemas.openxmlformats.org/officeDocument/2006/relationships/slide" Target="../slides/personal-slide-2.xml"/><Relationship Id="rId2" Type="http://schemas.openxmlformats.org/officeDocument/2006/relationships/notesMaster" Target="../notesMasters/notesMaster1.xml"/></Relationships>
</file>

<file path=ppt/notesSlides/personal-notes-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述备注"/>
          <p:cNvSpPr/>
          <p:nvPr>
            <p:ph type="body" idx="1"/>
          </p:nvPr>
        </p:nvSpPr>
        <p:spPr/>
        <p:txBody>
          <a:bodyPr/>
          <a:lstStyle/>
          <a:p>
            <a:r>
              <a:t>以下均为合成测试数据，不代表学院实际运行。2026年课程触达量一月至四月上升，四月达峰，后两月回落。</a:t>
            </a:r>
          </a:p>
          <a:p>
            <a:r>
              <a:t/>
            </a:r>
          </a:p>
          <a:p>
            <a:r>
              <a:t>仅用于公开示例的合成数据，不代表任何真实机构的业务结果。</a:t>
            </a:r>
          </a:p>
        </p:txBody>
      </p:sp>
    </p:spTree>
  </p:cSld>
  <p:clrMapOvr>
    <a:masterClrMapping/>
  </p:clrMapOvr>
</p:notes>
</file>

<file path=ppt/notesSlides/personal-notes-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讲述备注"/>
          <p:cNvSpPr/>
          <p:nvPr>
            <p:ph type="body" idx="1"/>
          </p:nvPr>
        </p:nvSpPr>
        <p:spPr/>
        <p:txBody>
          <a:bodyPr/>
          <a:lstStyle/>
          <a:p>
            <a:r>
              <a:t>与2025年同期比较，2026年六个月每个月均较高，其中三月差距最大；两期统计对象和计数规则在本样例中相同。</a:t>
            </a:r>
          </a:p>
          <a:p>
            <a:r>
              <a:t/>
            </a:r>
          </a:p>
          <a:p>
            <a:r>
              <a:t>仅用于公开示例的合成数据，不代表任何真实机构的业务结果。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personal-slide-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Relationship Id="rIdSeqaraChart1" Type="http://schemas.openxmlformats.org/officeDocument/2006/relationships/chart" Target="../charts/seqara-data-1.xml"/><Relationship Id="rIdPersonalNotes" Type="http://schemas.openxmlformats.org/officeDocument/2006/relationships/notesSlide" Target="../notesSlides/personal-notes-1.xml"/></Relationships>
</file>

<file path=ppt/slides/_rels/personal-slide-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Relationship Id="rIdSeqaraChart2" Type="http://schemas.openxmlformats.org/officeDocument/2006/relationships/chart" Target="../charts/seqara-data-2.xml"/><Relationship Id="rIdPersonalNotes" Type="http://schemas.openxmlformats.org/officeDocument/2006/relationships/notesSlide" Target="../notesSlides/personal-notes-2.xml"/></Relationships>
</file>

<file path=ppt/slides/personal-slide-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合成数据验收 · 趋势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2026年课程触达量四月达峰，随后回落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01 / 02</a:t>
            </a:r>
            <a:endParaRPr sz="950"/>
          </a:p>
        </p:txBody>
      </p:sp>
      <p:sp>
        <p:nvSpPr>
          <p:cNvPr id="4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7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2026年先升后降，四月的课程触达次数最高。</a:t>
            </a:r>
            <a:endParaRPr sz="1150"/>
          </a:p>
        </p:txBody>
      </p:sp>
      <p:sp>
        <p:nvSpPr>
          <p:cNvPr id="48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数据来源：合成测试表（XLSX／CSV）｜单位：次</a:t>
            </a:r>
            <a:endParaRPr sz="850"/>
          </a:p>
        </p:txBody>
      </p:sp>
      <p:graphicFrame>
        <p:nvGraphicFramePr>
          <p:cNvPr id="51" name="Seqara evidence chart 1"/>
          <p:cNvGraphicFramePr>
            <a:graphicFrameLocks noGrp="1"/>
          </p:cNvGraphicFramePr>
          <p:nvPr/>
        </p:nvGraphicFramePr>
        <p:xfrm>
          <a:off x="254000" y="1778000"/>
          <a:ext cx="11430000" cy="4191000"/>
        </p:xfrm>
        <a:graphic>
          <a:graphicData uri="http://schemas.openxmlformats.org/drawingml/2006/chart">
            <c:chart xmlns:c="http://schemas.openxmlformats.org/drawingml/2006/chart" r:id="rIdSeqaraChart1"/>
          </a:graphicData>
        </a:graphic>
      </p:graphicFrame>
    </p:spTree>
  </p:cSld>
  <p:clrMapOvr>
    <a:masterClrMapping/>
  </p:clrMapOvr>
</p:sld>
</file>

<file path=ppt/slides/personal-slide-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合成数据验收 · 双序列比较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2026年各月均高于2025年，三月差距最大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02 / 02</a:t>
            </a:r>
            <a:endParaRPr sz="950"/>
          </a:p>
        </p:txBody>
      </p:sp>
      <p:sp>
        <p:nvSpPr>
          <p:cNvPr id="4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7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两期口径相同；三月2026年比2025年高八次。</a:t>
            </a:r>
            <a:endParaRPr sz="1150"/>
          </a:p>
        </p:txBody>
      </p:sp>
      <p:sp>
        <p:nvSpPr>
          <p:cNvPr id="48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 xml:space="preserve">数据来源：合成测试表（XLSX／CSV）｜单位：次</a:t>
            </a:r>
            <a:endParaRPr sz="850"/>
          </a:p>
        </p:txBody>
      </p:sp>
      <p:graphicFrame>
        <p:nvGraphicFramePr>
          <p:cNvPr id="51" name="Seqara evidence chart 2"/>
          <p:cNvGraphicFramePr>
            <a:graphicFrameLocks noGrp="1"/>
          </p:cNvGraphicFramePr>
          <p:nvPr/>
        </p:nvGraphicFramePr>
        <p:xfrm>
          <a:off x="254000" y="1778000"/>
          <a:ext cx="11430000" cy="4191000"/>
        </p:xfrm>
        <a:graphic>
          <a:graphicData uri="http://schemas.openxmlformats.org/drawingml/2006/chart">
            <c:chart xmlns:c="http://schemas.openxmlformats.org/drawingml/2006/chart" r:id="rIdSeqaraChart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 Normal"/>
        <a:ea typeface="MiSans Normal"/>
        <a:cs typeface="MiSans Normal"/>
      </a:majorFont>
      <a:minorFont>
        <a:latin typeface="MiSans Normal"/>
        <a:ea typeface="MiSans Normal"/>
        <a:cs typeface="MiSans Normal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 Normal"/>
        <a:ea typeface="MiSans Normal"/>
        <a:cs typeface="MiSans Normal"/>
      </a:majorFont>
      <a:minorFont>
        <a:latin typeface="MiSans Normal"/>
        <a:ea typeface="MiSans Normal"/>
        <a:cs typeface="MiSans Normal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ynthetic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10778</Words>
  <Application>Microsoft PowerPoint</Application>
  <PresentationFormat>On-screen Show (16:9)</PresentationFormat>
  <Paragraphs>1448</Paragraphs>
  <Slides>2</Slides>
  <Notes>2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合成数据图表能力演示</dc:title>
  <dc:creator/>
  <cp:lastModifiedBy/>
  <cp:revision>1</cp:revision>
  <dcterms:created xsi:type="dcterms:W3CDTF">2026-09-30T00:00:00Z</dcterms:created>
  <dcterms:modified xsi:type="dcterms:W3CDTF">2026-09-30T00:00:00Z</dcterms:modified>
</cp:coreProperties>
</file>